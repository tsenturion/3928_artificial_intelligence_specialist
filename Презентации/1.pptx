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033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39738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Что такое искусственный интеллект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944614"/>
            <a:ext cx="2917851" cy="272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ИИ — это область информатики, создающая компьютерные системы для решения задач, требующих интеллектуальных способностей. Система обрабатывает информацию, находит связи между данными и формирует выводы.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8482594" y="2774553"/>
            <a:ext cx="3190101" cy="3364309"/>
          </a:xfrm>
          <a:prstGeom prst="roundRect">
            <a:avLst>
              <a:gd name="adj" fmla="val 4266"/>
            </a:avLst>
          </a:prstGeom>
          <a:solidFill>
            <a:srgbClr val="27B29F"/>
          </a:solidFill>
          <a:ln/>
        </p:spPr>
      </p:sp>
      <p:sp>
        <p:nvSpPr>
          <p:cNvPr id="7" name="Text 4"/>
          <p:cNvSpPr/>
          <p:nvPr/>
        </p:nvSpPr>
        <p:spPr>
          <a:xfrm>
            <a:off x="8671601" y="2944614"/>
            <a:ext cx="2812087" cy="3024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Ключевой момент: компьютер решает интеллектуальные задачи совсем не так, как человек. Где человек использует опыт и знание, машина применяет математические операции. ИИ — это не одна программа, а совокупность технологий и методов.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913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Интеллектуальная задача: определение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62709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Интеллектуальной называют задачу, где решение требует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0"/>
              </a:rPr>
              <a:t>интерпретации информации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 и поиска закономерностей. Готовый ответ заранее неизвестен, и простое правило не поможет.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582591"/>
            <a:ext cx="6903269" cy="1644253"/>
          </a:xfrm>
          <a:prstGeom prst="roundRect">
            <a:avLst>
              <a:gd name="adj" fmla="val 4828"/>
            </a:avLst>
          </a:prstGeom>
          <a:solidFill>
            <a:srgbClr val="D5F6F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3875683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3799880"/>
            <a:ext cx="610001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Количество вычислений не делает систему интеллектуальной. Главное — использование информации для получения результата, который нельзя свести к заранее подготовленным ответам.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032251" y="2656384"/>
            <a:ext cx="3504219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Пример: определить, что хочет клиент — вернуть товар, получить консультацию или узнать статус заказа. Человек анализирует смысл сообщения, даже если оно не совпадает с шаблоном. Для компьютера это требует механизма интерпретации.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09505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ИИ и автоматизация: в чём разница</a:t>
            </a:r>
            <a:endParaRPr lang="en-US" sz="3500" dirty="0"/>
          </a:p>
        </p:txBody>
      </p:sp>
      <p:sp>
        <p:nvSpPr>
          <p:cNvPr id="5" name="Shape 2"/>
          <p:cNvSpPr/>
          <p:nvPr/>
        </p:nvSpPr>
        <p:spPr>
          <a:xfrm>
            <a:off x="661475" y="1969294"/>
            <a:ext cx="6296860" cy="4297561"/>
          </a:xfrm>
          <a:prstGeom prst="roundRect">
            <a:avLst>
              <a:gd name="adj" fmla="val 1755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7825" y="1975644"/>
            <a:ext cx="3142080" cy="2702818"/>
          </a:xfrm>
          <a:custGeom>
            <a:avLst/>
            <a:gdLst/>
            <a:ahLst/>
            <a:cxnLst/>
            <a:rect l="l" t="t" r="r" b="b"/>
            <a:pathLst>
              <a:path w="3142080" h="2702818">
                <a:moveTo>
                  <a:pt x="62849" y="0"/>
                </a:moveTo>
                <a:lnTo>
                  <a:pt x="3142080" y="0"/>
                </a:lnTo>
                <a:lnTo>
                  <a:pt x="3142080" y="2702818"/>
                </a:lnTo>
                <a:lnTo>
                  <a:pt x="0" y="2702818"/>
                </a:lnTo>
                <a:lnTo>
                  <a:pt x="0" y="62850"/>
                </a:lnTo>
                <a:arcTo wR="62849" hR="62850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7" name="Text 4"/>
          <p:cNvSpPr/>
          <p:nvPr/>
        </p:nvSpPr>
        <p:spPr>
          <a:xfrm>
            <a:off x="847307" y="2155130"/>
            <a:ext cx="2783116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Обычная автоматизация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47307" y="2818408"/>
            <a:ext cx="2783116" cy="168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Работает по заранее установленным инструкциям. Программист определяет условия и действия — результат полностью предсказуем.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809905" y="1975644"/>
            <a:ext cx="3142080" cy="2702818"/>
          </a:xfrm>
          <a:custGeom>
            <a:avLst/>
            <a:gdLst/>
            <a:ahLst/>
            <a:cxnLst/>
            <a:rect l="l" t="t" r="r" b="b"/>
            <a:pathLst>
              <a:path w="3142080" h="2702818">
                <a:moveTo>
                  <a:pt x="0" y="0"/>
                </a:moveTo>
                <a:lnTo>
                  <a:pt x="3079231" y="0"/>
                </a:lnTo>
                <a:arcTo wR="62849" hR="62850" stAng="16200000" swAng="5400000"/>
                <a:lnTo>
                  <a:pt x="3142080" y="2702818"/>
                </a:lnTo>
                <a:lnTo>
                  <a:pt x="0" y="2702818"/>
                </a:lnTo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0" name="Shape 7"/>
          <p:cNvSpPr/>
          <p:nvPr/>
        </p:nvSpPr>
        <p:spPr>
          <a:xfrm>
            <a:off x="3809905" y="1975644"/>
            <a:ext cx="25399" cy="2702818"/>
          </a:xfrm>
          <a:prstGeom prst="roundRect">
            <a:avLst>
              <a:gd name="adj" fmla="val 50001"/>
            </a:avLst>
          </a:prstGeom>
          <a:solidFill>
            <a:srgbClr val="BBDCD7"/>
          </a:solidFill>
          <a:ln/>
        </p:spPr>
      </p:sp>
      <p:sp>
        <p:nvSpPr>
          <p:cNvPr id="11" name="Text 8"/>
          <p:cNvSpPr/>
          <p:nvPr/>
        </p:nvSpPr>
        <p:spPr>
          <a:xfrm>
            <a:off x="3989387" y="2155130"/>
            <a:ext cx="2783116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Искусственный интеллект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3989387" y="2818408"/>
            <a:ext cx="2783116" cy="168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Получает результаты на основе закономерностей в данных, а не только из написанных правил. Учитывает историю и поведение.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67825" y="4678462"/>
            <a:ext cx="6284160" cy="1582043"/>
          </a:xfrm>
          <a:custGeom>
            <a:avLst/>
            <a:gdLst/>
            <a:ahLst/>
            <a:cxnLst/>
            <a:rect l="l" t="t" r="r" b="b"/>
            <a:pathLst>
              <a:path w="6284160" h="1582043">
                <a:moveTo>
                  <a:pt x="0" y="0"/>
                </a:moveTo>
                <a:lnTo>
                  <a:pt x="6284160" y="0"/>
                </a:lnTo>
                <a:lnTo>
                  <a:pt x="6284160" y="1519193"/>
                </a:lnTo>
                <a:arcTo wR="62849" hR="62850" stAng="0" swAng="5400000"/>
                <a:lnTo>
                  <a:pt x="62849" y="1582043"/>
                </a:lnTo>
                <a:arcTo wR="62849" hR="62850" stAng="5400000" swAng="5400000"/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4" name="Shape 11"/>
          <p:cNvSpPr/>
          <p:nvPr/>
        </p:nvSpPr>
        <p:spPr>
          <a:xfrm>
            <a:off x="667825" y="4678462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5" name="Text 12"/>
          <p:cNvSpPr/>
          <p:nvPr/>
        </p:nvSpPr>
        <p:spPr>
          <a:xfrm>
            <a:off x="847307" y="4857948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Современные решения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847307" y="5240734"/>
            <a:ext cx="5925196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Граница размыта: системы часто объединяют обычный код и обучаемые модели. Главное различие — в способе получения результата.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3728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Роль данных в работе ИИ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92957"/>
            <a:ext cx="4528032" cy="45281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49672" y="2215852"/>
            <a:ext cx="5886799" cy="3282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Данные — это информация в форме, пригодной для компьютерной обработки. Они описывают объекты, события и характеристики, но сами по себе это ещё не знания.</a:t>
            </a:r>
            <a:endParaRPr lang="en-US" sz="1450" dirty="0"/>
          </a:p>
          <a:p>
            <a:pPr marL="0" indent="0" algn="l">
              <a:lnSpc>
                <a:spcPct val="132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Число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0"/>
              </a:rPr>
              <a:t>85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 без контекста ничего не значит: это может быть возраст, цена, температура. Когда мы связываем значение с конкретной характеристикой, оно приобретает смысл.</a:t>
            </a:r>
            <a:endParaRPr lang="en-US" sz="14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Для ИИ важна не только доступность данных, но и их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0"/>
              </a:rPr>
              <a:t>соответствие задаче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. Большой объём информации не гарантирует полезный результат, если данные не связаны с исследуемым процессом.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97186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Модель искусственного интеллекта</a:t>
            </a:r>
            <a:endParaRPr lang="en-US" sz="3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788716"/>
            <a:ext cx="6296860" cy="14054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7354" y="1968401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Что такое модель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917354" y="2301280"/>
            <a:ext cx="586130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Вычислительная конструкция, преобразующая входную информацию в результат. Реализует математические зависимости или формализованные правила.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330674"/>
            <a:ext cx="6296860" cy="140543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7354" y="3510359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Пример: оценка квартиры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917354" y="3843238"/>
            <a:ext cx="586130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На вход поступают характеристики — площадь, район, возраст дома. На выходе — прогноз цены. Внутри реализована зависимость между этими параметрами.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872633"/>
            <a:ext cx="6296860" cy="140543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7354" y="5052318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Модель ≠ готовый продукт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917354" y="5385197"/>
            <a:ext cx="586130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Это вычислительное ядро, используемое в разных приложениях. Полноценное приложение дополнительно обеспечивает взаимодействие с пользователем и представление результата.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243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Признаки: как представить объект для ИИ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09230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370534"/>
            <a:ext cx="6903269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Чтобы система работала с реальным объектом, его нужно представить через характеристики, доступные компьютеру. Эти характеристики называют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0"/>
              </a:rPr>
              <a:t>признаками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Автомобиль для человека — это целостный образ. Для ИИ это набор признаков: пробег, возраст, объём двигателя, марка. Система не видит машину — она работает с её цифровым описанием.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4567734"/>
            <a:ext cx="6903269" cy="1341834"/>
          </a:xfrm>
          <a:prstGeom prst="roundRect">
            <a:avLst>
              <a:gd name="adj" fmla="val 5916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860826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785023"/>
            <a:ext cx="610001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Цифровое описание всегда отражает только часть свойств объекта. Если нужная характеристика отсутствует в данных, модель её не учитывает.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45444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Параметры модели и внутреннее устройство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757759"/>
            <a:ext cx="3549264" cy="404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Внутри моделей используются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0"/>
              </a:rPr>
              <a:t>параметры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 — числовые значения, определяющие, как система преобразует входную информацию. Параметров может быть несколько или миллиарды.</a:t>
            </a:r>
            <a:endParaRPr lang="en-US" sz="1250" dirty="0"/>
          </a:p>
          <a:p>
            <a:pPr marL="0" indent="0" algn="l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Пример: модель оценки недвижимости учитывает влияние площади на цену. Насколько сильно площадь влияет на результат — зависит от параметров модели. Изменение параметров приводит к другой оценке при одних и тех же входных данных.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Параметры — это не отдельные факты в памяти. Это числовые зависимости, взаимодействующие между собой. Содержание работы модели определяется взаимодействием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0"/>
              </a:rPr>
              <a:t>всей её структуры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166" y="1885553"/>
            <a:ext cx="5047132" cy="37937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10455" y="3598134"/>
            <a:ext cx="920458" cy="631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Оценка недвижимости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987400" y="4583979"/>
            <a:ext cx="1369344" cy="420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Параметры модели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987400" y="5064799"/>
            <a:ext cx="1369344" cy="311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Миллиарды числовых весов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77023" y="4767093"/>
            <a:ext cx="1369345" cy="210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Результат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77023" y="5037437"/>
            <a:ext cx="1369345" cy="155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Предсказанная цена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63503" y="2017928"/>
            <a:ext cx="1406762" cy="420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Входные признаки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363503" y="2498749"/>
            <a:ext cx="1406762" cy="46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Площадь, местоположение, возраст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92084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Обучение и применение модели</a:t>
            </a:r>
            <a:endParaRPr lang="en-US" sz="3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1865412"/>
            <a:ext cx="850581" cy="147329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65147" y="2035473"/>
            <a:ext cx="52931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Обучение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1665147" y="2392958"/>
            <a:ext cx="5293188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Изменяются внутренние параметры, чтобы результаты лучше соответствовали задаче. Используются данные с известными ответами.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338711"/>
            <a:ext cx="850581" cy="147329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65147" y="3508772"/>
            <a:ext cx="52931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Настройка зависимостей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1665147" y="3866257"/>
            <a:ext cx="5293188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Система устанавливает связи между характеристиками и целевым результатом — например, между параметрами автомобиля и его стоимостью.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4812010"/>
            <a:ext cx="850581" cy="147329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65147" y="4982071"/>
            <a:ext cx="52931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Инференс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1665147" y="5339556"/>
            <a:ext cx="5293188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Готовая модель принимает новые данные, выполняет вычисления и возвращает результат. Параметры при этом не изменяются.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4726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Результаты ИИ и неопределённость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2410856" y="2263577"/>
            <a:ext cx="1859908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80%</a:t>
            </a:r>
            <a:endParaRPr lang="en-US" sz="2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768" y="1318518"/>
            <a:ext cx="2268183" cy="2268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25" y="3745508"/>
            <a:ext cx="535877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Вероятность покупки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4054277"/>
            <a:ext cx="535877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Это не гарантия — это оценка в рамках модели. Число выражает вероятность, а не факт.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920832" y="2263577"/>
            <a:ext cx="1859908" cy="378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100%</a:t>
            </a:r>
            <a:endParaRPr lang="en-US" sz="2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6744" y="1318518"/>
            <a:ext cx="2268183" cy="22682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71401" y="3745508"/>
            <a:ext cx="535877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Уверенность ≠ точность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171450" y="4054277"/>
            <a:ext cx="535877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Высокая уверенность модели не доказывает правильность результата.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61475" y="4625677"/>
            <a:ext cx="10868745" cy="10067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Результат ИИ часто не является однозначным утверждением. Во многих задачах модель оценивает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0"/>
              </a:rPr>
              <a:t>наиболее вероятный результат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 на основе доступной информации.</a:t>
            </a:r>
            <a:endParaRPr lang="en-US" sz="11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Чтобы быть полезной, оценка вероятности должна соответствовать реальной частоте событий. Не все системы предоставляют показатель уверенности.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61475" y="5768479"/>
            <a:ext cx="10868745" cy="523081"/>
          </a:xfrm>
          <a:prstGeom prst="roundRect">
            <a:avLst>
              <a:gd name="adj" fmla="val 12142"/>
            </a:avLst>
          </a:prstGeom>
          <a:solidFill>
            <a:srgbClr val="FCF2B5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680" y="5940921"/>
            <a:ext cx="189007" cy="15120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52893" y="5929940"/>
            <a:ext cx="10835706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Система может уверенно выдавать ошибочные ответы. Высокая уверенность модели не доказывает правильность результата.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79240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Границы возможностей искусственного интеллекта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1159441" y="1925935"/>
            <a:ext cx="579889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Узкая специализация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159441" y="2258814"/>
            <a:ext cx="5798893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ИИ успешно выполняет отдельные интеллектуальные задачи, но это не означает универсального человеческого понимания. Успех в одной функции не гарантирует способность действовать в любой новой ситуации.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59441" y="3537942"/>
            <a:ext cx="579889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Связность ≠ достоверность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159441" y="3870821"/>
            <a:ext cx="5798893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Система может создать логически связное объяснение, содержащее неверные сведения. Способность формировать содержательный ответ — это не доказательство проверки соответствия действительности.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59441" y="4912221"/>
            <a:ext cx="579889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0"/>
              </a:rPr>
              <a:t>Три вопроса при оценке ИИ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159441" y="5245100"/>
            <a:ext cx="5798893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0"/>
              </a:rPr>
              <a:t>Какую информацию система использует? Что означает результат? При каких условиях ему можно доверять? Это позволяет рассматривать ИИ как конкретный инструмент, а не приписывать ему неограниченные возможности.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850</Words>
  <Application>Microsoft Office PowerPoint</Application>
  <PresentationFormat>Широкоэкранный</PresentationFormat>
  <Paragraphs>74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Open Sans Bold</vt:lpstr>
      <vt:lpstr>Arial</vt:lpstr>
      <vt:lpstr>Open Sans</vt:lpstr>
      <vt:lpstr>Montserrat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2026-10-25T20:42:41Z</dcterms:created>
  <dcterms:modified xsi:type="dcterms:W3CDTF">2026-10-25T20:48:54Z</dcterms:modified>
</cp:coreProperties>
</file>