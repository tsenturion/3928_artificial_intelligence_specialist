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Montserrat Bold" panose="020B0604020202020204" charset="-52"/>
      <p:regular r:id="rId13"/>
    </p:embeddedFont>
    <p:embeddedFont>
      <p:font typeface="Open Sans" panose="020B0606030504020204" pitchFamily="34" charset="0"/>
      <p:regular r:id="rId14"/>
    </p:embeddedFont>
    <p:embeddedFont>
      <p:font typeface="Open Sans Bold" panose="020B0806030504020204" charset="0"/>
      <p:regular r:id="rId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93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175334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svg"/><Relationship Id="rId4" Type="http://schemas.openxmlformats.org/officeDocument/2006/relationships/image" Target="../media/image15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92" y="500559"/>
            <a:ext cx="4392403" cy="58567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1497414"/>
            <a:ext cx="6296860" cy="16835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0"/>
              </a:rPr>
              <a:t>Основные направления развития искусственного интеллекта</a:t>
            </a:r>
            <a:endParaRPr lang="en-US" sz="3500" dirty="0"/>
          </a:p>
        </p:txBody>
      </p:sp>
      <p:sp>
        <p:nvSpPr>
          <p:cNvPr id="5" name="Text 2"/>
          <p:cNvSpPr/>
          <p:nvPr/>
        </p:nvSpPr>
        <p:spPr>
          <a:xfrm>
            <a:off x="5233360" y="3418384"/>
            <a:ext cx="6296860" cy="19606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0"/>
              </a:rPr>
              <a:t>Современный ИИ объединяет несколько технологических подходов, каждый из которых решает определённые задачи. Машинное обучение и глубокое обучение — методы, основанные на анализе данных. Обработка естественного языка и компьютерное зрение — области применения, ориентированные на конкретные типы информации. Понимание различий между методом и областью применения критично для выбора правильного инструмента.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66" y="488057"/>
            <a:ext cx="4411254" cy="588188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599369"/>
            <a:ext cx="6296860" cy="1004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0"/>
              </a:rPr>
              <a:t>Машинное обучение как направление ИИ</a:t>
            </a:r>
            <a:endParaRPr lang="en-US" sz="3150" dirty="0"/>
          </a:p>
        </p:txBody>
      </p:sp>
      <p:sp>
        <p:nvSpPr>
          <p:cNvPr id="5" name="Text 2"/>
          <p:cNvSpPr/>
          <p:nvPr/>
        </p:nvSpPr>
        <p:spPr>
          <a:xfrm>
            <a:off x="5233360" y="1913731"/>
            <a:ext cx="2952478" cy="39264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spcAft>
                <a:spcPts val="950"/>
              </a:spcAft>
              <a:buNone/>
            </a:pP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0"/>
              </a:rPr>
              <a:t>Машинное обучение позволяет системам выявлять закономерности в данных вместо следования жёстким правилам. Это особенно полезно, когда процесс сложно описать явно — например, прогнозирование спроса зависит от множества факторов: сезонности, цены, активности покупателей.</a:t>
            </a:r>
            <a:endParaRPr lang="en-US" sz="1250" dirty="0"/>
          </a:p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0"/>
              </a:rPr>
              <a:t>Важно помнить: система находит </a:t>
            </a:r>
            <a:r>
              <a:rPr lang="en-US" sz="12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0"/>
              </a:rPr>
              <a:t>статистические связи</a:t>
            </a: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0"/>
              </a:rPr>
              <a:t>, а не причинно-следственные отношения. Специалист должен чётко различать способность обнаруживать закономерности и возможность их достоверного объяснения.</a:t>
            </a:r>
            <a:endParaRPr lang="en-US" sz="12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584092" y="1944489"/>
            <a:ext cx="2952478" cy="122237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839971" y="2124174"/>
            <a:ext cx="2516918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0"/>
              </a:rPr>
              <a:t>Гибкость</a:t>
            </a:r>
            <a:endParaRPr lang="en-US" sz="1550" dirty="0"/>
          </a:p>
        </p:txBody>
      </p:sp>
      <p:sp>
        <p:nvSpPr>
          <p:cNvPr id="8" name="Text 4"/>
          <p:cNvSpPr/>
          <p:nvPr/>
        </p:nvSpPr>
        <p:spPr>
          <a:xfrm>
            <a:off x="8839971" y="2511723"/>
            <a:ext cx="2516918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0"/>
              </a:rPr>
              <a:t>Работает без явно заданных правил, обучаясь на примерах</a:t>
            </a:r>
            <a:endParaRPr lang="en-US" sz="12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584092" y="3303389"/>
            <a:ext cx="2952478" cy="122237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839971" y="3483074"/>
            <a:ext cx="2516918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0"/>
              </a:rPr>
              <a:t>Статистика</a:t>
            </a:r>
            <a:endParaRPr lang="en-US" sz="1550" dirty="0"/>
          </a:p>
        </p:txBody>
      </p:sp>
      <p:sp>
        <p:nvSpPr>
          <p:cNvPr id="11" name="Text 6"/>
          <p:cNvSpPr/>
          <p:nvPr/>
        </p:nvSpPr>
        <p:spPr>
          <a:xfrm>
            <a:off x="8839971" y="3870623"/>
            <a:ext cx="2516918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0"/>
              </a:rPr>
              <a:t>Выявляет корреляции, но не объясняет причины</a:t>
            </a:r>
            <a:endParaRPr lang="en-US" sz="12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584092" y="4662289"/>
            <a:ext cx="2952478" cy="146010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839971" y="4841974"/>
            <a:ext cx="2516918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0"/>
              </a:rPr>
              <a:t>Контекст</a:t>
            </a:r>
            <a:endParaRPr lang="en-US" sz="1550" dirty="0"/>
          </a:p>
        </p:txBody>
      </p:sp>
      <p:sp>
        <p:nvSpPr>
          <p:cNvPr id="14" name="Text 8"/>
          <p:cNvSpPr/>
          <p:nvPr/>
        </p:nvSpPr>
        <p:spPr>
          <a:xfrm>
            <a:off x="8839971" y="5229523"/>
            <a:ext cx="2516918" cy="713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0"/>
              </a:rPr>
              <a:t>Эффективность зависит от качества и репрезентативности данных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70322"/>
            <a:ext cx="10868745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0"/>
              </a:rPr>
              <a:t>Практическое назначение машинного обучения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509044"/>
            <a:ext cx="2009923" cy="124221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3987502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0"/>
              </a:rPr>
              <a:t>Банковская сфера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61475" y="4396184"/>
            <a:ext cx="3465426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0"/>
              </a:rPr>
              <a:t>Системы оценивают риск невыполнения кредитных обязательств, анализируя поведение заёмщиков и рыночные условия.</a:t>
            </a:r>
            <a:endParaRPr lang="en-US" sz="14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3135" y="2509044"/>
            <a:ext cx="2009923" cy="124221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363135" y="3987502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0"/>
              </a:rPr>
              <a:t>Промышленность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4363135" y="4396184"/>
            <a:ext cx="3465426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0"/>
              </a:rPr>
              <a:t>Анализ состояния оборудования позволяет предсказывать неисправности до их возникновения и планировать обслуживание.</a:t>
            </a:r>
            <a:endParaRPr lang="en-US" sz="14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4794" y="2509044"/>
            <a:ext cx="2009923" cy="1242219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064794" y="3987502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0"/>
              </a:rPr>
              <a:t>Мониторинг и адаптация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8064794" y="4396184"/>
            <a:ext cx="3465426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0"/>
              </a:rPr>
              <a:t>При резких изменениях рынка старые зависимости перестают работать — системы требуют постоянного обновления.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47564"/>
            <a:ext cx="10868745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0"/>
              </a:rPr>
              <a:t>Глубокое обучение и его технологические особенности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862957"/>
            <a:ext cx="5770220" cy="259665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763684" y="2892780"/>
            <a:ext cx="1009784" cy="3120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0"/>
              </a:rPr>
              <a:t>Входные данные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1763684" y="3249265"/>
            <a:ext cx="1009784" cy="2496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0"/>
              </a:rPr>
              <a:t>Сырые признаки и метки</a:t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3039785" y="4855875"/>
            <a:ext cx="1015333" cy="156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0"/>
              </a:rPr>
              <a:t>Скрытые слои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3039785" y="5056311"/>
            <a:ext cx="1015333" cy="374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0"/>
              </a:rPr>
              <a:t>Преобразование и извлечение признаков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4277049" y="2951385"/>
            <a:ext cx="1009785" cy="156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0"/>
              </a:rPr>
              <a:t>Выход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4277049" y="3151821"/>
            <a:ext cx="1009785" cy="2496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0"/>
              </a:rPr>
              <a:t>Прогноз или решение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6899202" y="2261791"/>
            <a:ext cx="4637269" cy="37990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0"/>
              </a:rPr>
              <a:t>Глубокое обучение использует </a:t>
            </a:r>
            <a:r>
              <a:rPr lang="en-US" sz="14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0"/>
              </a:rPr>
              <a:t>многослойные нейронные сети</a:t>
            </a: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0"/>
              </a:rPr>
              <a:t> для работы со сложными зависимостями в больших объёмах данных. Каждый слой преобразует информацию и передаёт результат дальше, позволяя системе формировать сложные внутренние представления.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0"/>
              </a:rPr>
              <a:t>Главное преимущество — автоматическое извлечение полезных признаков из исходных данных без необходимости вручную их определять. Это особенно ценно при обработке текстов и изображений со сложной структурой.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82476"/>
            <a:ext cx="10868745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0"/>
              </a:rPr>
              <a:t>Возможности и ограничения глубокого обучения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239268"/>
            <a:ext cx="3844134" cy="384423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73116" y="2715419"/>
            <a:ext cx="6563355" cy="28918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0"/>
              </a:rPr>
              <a:t>Глубокое обучение эффективно там, где закономерности трудно выразить через несколько заранее определённых характеристик. Однако оно требует значительных вычислительных ресурсов и специализированного оборудования.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0"/>
              </a:rPr>
              <a:t>Сложность нейронной сети затрудняет объяснение её решений — это критично в профессиональной деятельности, где необходима прозрачность. Для структурированных данных с небольшим числом показателей более простые методы могут дать сопоставимый результат с меньшими затратами.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0075" y="488057"/>
            <a:ext cx="4411254" cy="588188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841363"/>
            <a:ext cx="6296860" cy="1004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0"/>
              </a:rPr>
              <a:t>Обработка естественного языка</a:t>
            </a:r>
            <a:endParaRPr lang="en-US" sz="3150" dirty="0"/>
          </a:p>
        </p:txBody>
      </p:sp>
      <p:sp>
        <p:nvSpPr>
          <p:cNvPr id="5" name="Text 2"/>
          <p:cNvSpPr/>
          <p:nvPr/>
        </p:nvSpPr>
        <p:spPr>
          <a:xfrm>
            <a:off x="661475" y="2036945"/>
            <a:ext cx="6296860" cy="950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0"/>
              </a:rPr>
              <a:t>NLP позволяет компьютерам работать с человеческой речью и текстами. Главная сложность в том, что значение высказывания зависит от контекста и не всегда определяется буквальным смыслом слов — выражение «дорого обойдётся» может означать финансовые затраты или негативные последствия.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661475" y="3137396"/>
            <a:ext cx="3080169" cy="1617762"/>
          </a:xfrm>
          <a:prstGeom prst="roundRect">
            <a:avLst>
              <a:gd name="adj" fmla="val 4171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28456" y="3304381"/>
            <a:ext cx="2746207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0"/>
              </a:rPr>
              <a:t>Автоматизация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828456" y="3637260"/>
            <a:ext cx="2746207" cy="713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0"/>
              </a:rPr>
              <a:t>Системы NLP обрабатывают языковую информацию в масштабе, недоступном человеку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3878165" y="3137396"/>
            <a:ext cx="3080169" cy="1617762"/>
          </a:xfrm>
          <a:prstGeom prst="roundRect">
            <a:avLst>
              <a:gd name="adj" fmla="val 4171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045146" y="3304381"/>
            <a:ext cx="2746207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0"/>
              </a:rPr>
              <a:t>Контекст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4045146" y="3637260"/>
            <a:ext cx="2746207" cy="950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0"/>
              </a:rPr>
              <a:t>Смысл высказывания определяется ситуацией, а не только словарным значением слов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61475" y="4891683"/>
            <a:ext cx="6296860" cy="1142305"/>
          </a:xfrm>
          <a:prstGeom prst="roundRect">
            <a:avLst>
              <a:gd name="adj" fmla="val 5907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28456" y="5058668"/>
            <a:ext cx="5962898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0"/>
              </a:rPr>
              <a:t>Ограничения</a:t>
            </a:r>
            <a:endParaRPr lang="en-US" sz="1550" dirty="0"/>
          </a:p>
        </p:txBody>
      </p:sp>
      <p:sp>
        <p:nvSpPr>
          <p:cNvPr id="14" name="Text 11"/>
          <p:cNvSpPr/>
          <p:nvPr/>
        </p:nvSpPr>
        <p:spPr>
          <a:xfrm>
            <a:off x="828456" y="5391547"/>
            <a:ext cx="5962898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0"/>
              </a:rPr>
              <a:t>Корректное определение смысловых отношений не равнозначно полному человеческому пониманию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38279"/>
            <a:ext cx="10868745" cy="561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0"/>
              </a:rPr>
              <a:t>Задачи и практическое применение NLP</a:t>
            </a:r>
            <a:endParaRPr lang="en-US" sz="35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756" y="1628775"/>
            <a:ext cx="4417307" cy="441741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55833" y="1887738"/>
            <a:ext cx="5780637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0"/>
              </a:rPr>
              <a:t>Классификация обращений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5755833" y="2329557"/>
            <a:ext cx="5780637" cy="8402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0"/>
              </a:rPr>
              <a:t>Система определяет предмет обращения клиента и автоматически направляет его в нужное подразделение, сокращая время обработки.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755833" y="3349627"/>
            <a:ext cx="5780637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0"/>
              </a:rPr>
              <a:t>Извлечение информации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5755833" y="3791446"/>
            <a:ext cx="5780637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0"/>
              </a:rPr>
              <a:t>Поиск условий автоматического продления в договорах требует понимания смысла, а не просто совпадения ключевых слов.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755833" y="4531422"/>
            <a:ext cx="5780637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0"/>
              </a:rPr>
              <a:t>Многоязычная обработка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5755833" y="4973241"/>
            <a:ext cx="5780637" cy="8402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0"/>
              </a:rPr>
              <a:t>Передача смысла высказывания между языками — не механическая замена слов, поскольку устойчивые выражения часто не имеют прямых аналогов.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28" y="494407"/>
            <a:ext cx="4401730" cy="586918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829416"/>
            <a:ext cx="6296860" cy="10632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0"/>
              </a:rPr>
              <a:t>Компьютерное зрение как направление ИИ</a:t>
            </a:r>
            <a:endParaRPr lang="en-US" sz="3300" dirty="0"/>
          </a:p>
        </p:txBody>
      </p:sp>
      <p:sp>
        <p:nvSpPr>
          <p:cNvPr id="5" name="Text 2"/>
          <p:cNvSpPr/>
          <p:nvPr/>
        </p:nvSpPr>
        <p:spPr>
          <a:xfrm>
            <a:off x="5233360" y="2242488"/>
            <a:ext cx="2940969" cy="28442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0"/>
              </a:rPr>
              <a:t>Компьютерное зрение анализирует и интерпретирует визуальную информацию из изображений и видео. Важно различать </a:t>
            </a:r>
            <a:r>
              <a:rPr lang="en-US" sz="130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0"/>
              </a:rPr>
              <a:t>получение изображения</a:t>
            </a: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0"/>
              </a:rPr>
              <a:t> и его </a:t>
            </a:r>
            <a:r>
              <a:rPr lang="en-US" sz="130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0"/>
              </a:rPr>
              <a:t>понимание</a:t>
            </a: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0"/>
              </a:rPr>
              <a:t>: камера фиксирует данные о яркости и цвете, но система должна связать эти визуальные характеристики с содержательным представлением объекта.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8595601" y="2274987"/>
            <a:ext cx="2940969" cy="2687439"/>
          </a:xfrm>
          <a:prstGeom prst="roundRect">
            <a:avLst>
              <a:gd name="adj" fmla="val 2659"/>
            </a:avLst>
          </a:prstGeom>
          <a:solidFill>
            <a:srgbClr val="D5F6F1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65658" y="2512219"/>
            <a:ext cx="212620" cy="17006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148335" y="2457197"/>
            <a:ext cx="2218178" cy="23270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0"/>
              </a:rPr>
              <a:t>Применение на производстве: система выявляет повреждения и преобразует визуальные наблюдения в информацию о состоянии продукции — заменяя ручной контроль качества.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8595601" y="5136699"/>
            <a:ext cx="2940969" cy="775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0"/>
              </a:rPr>
              <a:t>Разрыв между пикселями и смыслом — ключевая инженерная задача компьютерного зрения.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103573"/>
            <a:ext cx="10868745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0"/>
              </a:rPr>
              <a:t>Особенности анализа изображений и видеоданных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642295"/>
            <a:ext cx="378014" cy="37802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3256558"/>
            <a:ext cx="3465426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0"/>
              </a:rPr>
              <a:t>Изменчивость внешнего вида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61475" y="3960515"/>
            <a:ext cx="3465426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0"/>
              </a:rPr>
              <a:t>Один объект выглядит по-разному в зависимости от освещения, расстояния и угла съёмки. Частичное перекрытие объектов добавляет дополнительную сложность.</a:t>
            </a:r>
            <a:endParaRPr lang="en-US" sz="14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63135" y="2642295"/>
            <a:ext cx="378014" cy="37802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363135" y="3256558"/>
            <a:ext cx="3465426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0"/>
              </a:rPr>
              <a:t>Временное измерение в видео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4363135" y="3960515"/>
            <a:ext cx="3465426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0"/>
              </a:rPr>
              <a:t>При работе с видео система анализирует не только состояние сцены, но и характер изменений во времени — движение, динамику, последовательность событий.</a:t>
            </a:r>
            <a:endParaRPr lang="en-US" sz="14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64794" y="2642295"/>
            <a:ext cx="378014" cy="37802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064794" y="3256558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0"/>
              </a:rPr>
              <a:t>Ограничения видимости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8064794" y="3665240"/>
            <a:ext cx="3465426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0"/>
              </a:rPr>
              <a:t>Изображение не всегда позволяет установить реальное состояние: внутренние неисправности оборудования могут быть полностью невидимы для камеры.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31276"/>
            <a:ext cx="10868745" cy="10632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0"/>
              </a:rPr>
              <a:t>Взаимосвязь ML, DL, NLP и компьютерного зрения</a:t>
            </a:r>
            <a:endParaRPr lang="en-US" sz="33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3322" y="2078732"/>
            <a:ext cx="3993256" cy="39933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519798" y="2042319"/>
            <a:ext cx="6016673" cy="27233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spcAft>
                <a:spcPts val="105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0"/>
              </a:rPr>
              <a:t>На практике направления ИИ редко работают изолированно. Одна система может одновременно использовать глубокое обучение для анализа изображений упаковки, NLP для интерпретации текстового описания и машинное обучение для оценки потребности в пополнении запасов.</a:t>
            </a:r>
            <a:endParaRPr lang="en-US" sz="1300" dirty="0"/>
          </a:p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0"/>
              </a:rPr>
              <a:t>Профессиональный выбор технологии начинается с анализа задачи: </a:t>
            </a:r>
            <a:r>
              <a:rPr lang="en-US" sz="130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0"/>
              </a:rPr>
              <a:t>какую информацию обработать</a:t>
            </a: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0"/>
              </a:rPr>
              <a:t>, </a:t>
            </a:r>
            <a:r>
              <a:rPr lang="en-US" sz="130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0"/>
              </a:rPr>
              <a:t>какой результат получить</a:t>
            </a: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0"/>
              </a:rPr>
              <a:t> и </a:t>
            </a:r>
            <a:r>
              <a:rPr lang="en-US" sz="130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0"/>
              </a:rPr>
              <a:t>какой подход будет наиболее эффективен</a:t>
            </a: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0"/>
              </a:rPr>
              <a:t>. Правильное определение назначения каждой технологии — ключ к успешному решению.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5519798" y="4937919"/>
            <a:ext cx="6016673" cy="1136055"/>
          </a:xfrm>
          <a:prstGeom prst="roundRect">
            <a:avLst>
              <a:gd name="adj" fmla="val 6289"/>
            </a:avLst>
          </a:prstGeom>
          <a:solidFill>
            <a:srgbClr val="D5F6F1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89855" y="5175151"/>
            <a:ext cx="212620" cy="17006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072532" y="5120129"/>
            <a:ext cx="5293882" cy="775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0"/>
              </a:rPr>
              <a:t>Метод и область применения — разные понятия. Их чёткое разграничение определяет качество проектирования ИИ-систем.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759</Words>
  <Application>Microsoft Office PowerPoint</Application>
  <PresentationFormat>Широкоэкранный</PresentationFormat>
  <Paragraphs>70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5" baseType="lpstr">
      <vt:lpstr>Open Sans</vt:lpstr>
      <vt:lpstr>Arial</vt:lpstr>
      <vt:lpstr>Montserrat Bold</vt:lpstr>
      <vt:lpstr>Open Sans Bold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Ефимов Матвей Александрович</cp:lastModifiedBy>
  <cp:revision>2</cp:revision>
  <dcterms:created xsi:type="dcterms:W3CDTF">2026-10-25T20:46:37Z</dcterms:created>
  <dcterms:modified xsi:type="dcterms:W3CDTF">2026-10-25T20:49:18Z</dcterms:modified>
</cp:coreProperties>
</file>