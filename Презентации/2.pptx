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092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2562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Зачем нужна классификация ИИ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769791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Системы искусственного интеллекта различаются по функциям, архитектуре и способам работы. Единого универсального подхода не существует — разные критерии раскрывают разные стороны одной системы.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192091"/>
            <a:ext cx="6296860" cy="1360785"/>
          </a:xfrm>
          <a:prstGeom prst="roundRect">
            <a:avLst>
              <a:gd name="adj" fmla="val 5834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445978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4428331"/>
            <a:ext cx="54936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Один и тот же ИИ-помощник может быть узкоспециализированным, облачным, полуавтономным и статистическим — всё это описывает его с разных углов.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47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От узкого ИИ к сверхинтеллекту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882775"/>
            <a:ext cx="1811391" cy="1089124"/>
          </a:xfrm>
          <a:prstGeom prst="roundRect">
            <a:avLst>
              <a:gd name="adj" fmla="val 728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34270" y="2261195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2661873" y="2071787"/>
            <a:ext cx="867934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Узкий ИИ (ANI)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2661873" y="2480469"/>
            <a:ext cx="867934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Решает конкретные задачи в одной области, не переносит навыки на другие.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567320" y="2959199"/>
            <a:ext cx="8868446" cy="127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066355"/>
            <a:ext cx="3622882" cy="1391543"/>
          </a:xfrm>
          <a:prstGeom prst="roundRect">
            <a:avLst>
              <a:gd name="adj" fmla="val 570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016" y="3595985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2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4473364" y="3255367"/>
            <a:ext cx="68678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Общий ИИ (AGI)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473364" y="3664049"/>
            <a:ext cx="68678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Работает на уровне человека в разных областях, применяет знания в новых ситуациях — пока цель, не реальность.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378811" y="4445198"/>
            <a:ext cx="7056955" cy="127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4552355"/>
            <a:ext cx="5434373" cy="1391543"/>
          </a:xfrm>
          <a:prstGeom prst="roundRect">
            <a:avLst>
              <a:gd name="adj" fmla="val 570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5761" y="5081984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3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6284854" y="4741366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Сверхинтеллект (ASI)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284854" y="5150048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Качественно превосходит человека — теоретический прогноз, не существующая система.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771" y="0"/>
            <a:ext cx="3047924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225" y="1284684"/>
            <a:ext cx="2859016" cy="4288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95747"/>
            <a:ext cx="782082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Как реализуется интеллект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250164"/>
            <a:ext cx="36798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Символический подход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2722563"/>
            <a:ext cx="367983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Система работает с явными правилами и логическими выводами — как в классических экспертных системах.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3830718"/>
            <a:ext cx="36798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Субсимволический подход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1475" y="4303117"/>
            <a:ext cx="367983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Интеллект возникает из взаимодействия множества элементов, обрабатывающих числовые зависимости — как в нейросетях.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808814" y="2250164"/>
            <a:ext cx="36798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Гибридный подход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808814" y="2722563"/>
            <a:ext cx="367983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Сочетает оба метода: одна часть интерпретирует запрос, другая проверяет результат по правилам. Позволяет использовать сильные стороны каждого из подходов.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46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Память и контекст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1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2293541"/>
            <a:ext cx="5226911" cy="143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Реактивные системы принимают решение исключительно на основе текущего входа — история взаимодействий им недоступна.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Контекстно-зависимые системы учитывают предыдущие события и взаимодействия при формировании ответа.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309659" y="3896320"/>
            <a:ext cx="5226911" cy="1394619"/>
          </a:xfrm>
          <a:prstGeom prst="roundRect">
            <a:avLst>
              <a:gd name="adj" fmla="val 5123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715" y="4133552"/>
            <a:ext cx="212620" cy="1700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2392" y="4078531"/>
            <a:ext cx="450412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Важное различие: хранение информации о прошлых событиях — это не то же самое, что изменение внутренних параметров.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Память и обучение — разные процессы.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41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Что выдаёт система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5217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Одна система часто выполняет несколько функций одновременно.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067223"/>
            <a:ext cx="5339820" cy="1857871"/>
          </a:xfrm>
          <a:prstGeom prst="roundRect">
            <a:avLst>
              <a:gd name="adj" fmla="val 427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6832" y="2262584"/>
            <a:ext cx="567021" cy="56703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2418457"/>
            <a:ext cx="255085" cy="2550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6832" y="301863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Аналитические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3427313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Определяют свойства и состояние объектов.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90301" y="2067223"/>
            <a:ext cx="5339919" cy="1857871"/>
          </a:xfrm>
          <a:prstGeom prst="roundRect">
            <a:avLst>
              <a:gd name="adj" fmla="val 427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85658" y="2262584"/>
            <a:ext cx="567021" cy="56703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626" y="2418457"/>
            <a:ext cx="255085" cy="2550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85658" y="301863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Прогностические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6385658" y="3427313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Оценивают неизвестные или будущие значения.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61475" y="4114105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6832" y="4309467"/>
            <a:ext cx="567021" cy="56703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800" y="4465340"/>
            <a:ext cx="255085" cy="2550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6832" y="506551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Рекомендательные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856832" y="5474196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Предлагают лучший вариант из доступных.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190301" y="4114105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85658" y="4309467"/>
            <a:ext cx="567021" cy="56703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1626" y="4465340"/>
            <a:ext cx="255085" cy="2550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85658" y="506551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Генеративные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6385658" y="5474196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Создают новое содержимое — текст, код, изображения.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35245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Уровень самостоятельности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1908572"/>
            <a:ext cx="850581" cy="12147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37032" y="2078633"/>
            <a:ext cx="5293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Информационные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237032" y="2436118"/>
            <a:ext cx="529318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Только подготавливают данные — решение принимает человек.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3123307"/>
            <a:ext cx="850581" cy="12147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37032" y="3293368"/>
            <a:ext cx="5293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Полуавтономные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237032" y="3650853"/>
            <a:ext cx="529318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Выполняют этапы процесса, но критические действия требуют подтверждения.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4338042"/>
            <a:ext cx="850581" cy="12147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37032" y="4508103"/>
            <a:ext cx="5293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Автономные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6237032" y="4865588"/>
            <a:ext cx="529318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Действуют самостоятельно в пределах установленной цели и полномочий.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5233360" y="5727050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Автономность определяется не только техническими возможностями, но и правилами использования.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77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Взаимодействие с миром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201" y="2206923"/>
            <a:ext cx="2175019" cy="33181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421334"/>
            <a:ext cx="164460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Информационные системы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3496171"/>
            <a:ext cx="16446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Работают в цифровом пространстве через программные интерфейсы.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7227" y="2206923"/>
            <a:ext cx="2175118" cy="33181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3231" y="2421334"/>
            <a:ext cx="164470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Системы с инструментами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3231" y="3496171"/>
            <a:ext cx="164470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Обращаются к другим сервисам и выполняют операции через API.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1353" y="2206923"/>
            <a:ext cx="2175118" cy="33181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7356" y="2421334"/>
            <a:ext cx="164470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Физически действующие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77356" y="3496171"/>
            <a:ext cx="164470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Управляют роботами и устройствами, влияют на материальный мир.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729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Где выполняются вычисления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21024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321024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Локальные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729706"/>
            <a:ext cx="275672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Работают на оборудовании пользователя. Полный контроль над данными, но требуют вычислительной мощности.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321024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2321024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Облачные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2729706"/>
            <a:ext cx="27567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Используют удалённые серверы. Доступны ресурсоёмкие функции без собственного оборудования.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321024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2321024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Периферийные (Edge AI)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3024981"/>
            <a:ext cx="275672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Обрабатывают данные рядом с источником. Минимальная задержка, работают при слабом интернете.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4749701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5F6F1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017393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4985941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На практике часто используется гибридная инфраструктура, сочетающая несколько подходов.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726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Как система меняется со временем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10" y="2542381"/>
            <a:ext cx="6565736" cy="2590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55637" y="3439444"/>
            <a:ext cx="1306105" cy="355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Фиксированная модель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855637" y="3845403"/>
            <a:ext cx="1306105" cy="415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Параметры не меняются, поведение воспроизводимо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479433" y="3413578"/>
            <a:ext cx="1306105" cy="355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Периодические обновления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479433" y="3819537"/>
            <a:ext cx="1306105" cy="415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Новые версии после валидации по расписанию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122184" y="3439444"/>
            <a:ext cx="1306105" cy="355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Непрерывная адаптация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22184" y="3845403"/>
            <a:ext cx="1306105" cy="415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Параметры меняются в работе, быстрый отклик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017270" y="1795663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Три стратегии обновления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017270" y="2237482"/>
            <a:ext cx="3519201" cy="3668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Фиксированная модель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 — параметры не меняются, поведение воспроизводимо, контроль версий прост.</a:t>
            </a:r>
            <a:endParaRPr lang="en-US" sz="1400" dirty="0"/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Периодические обновления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 — новая версия внедряется после проверок через установленные промежутки.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Непрерывная адаптация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 — система меняет параметры прямо в процессе работы: быстрее реагирует на изменения, но сложнее контролировать.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37750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Как устроена система изнутри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233360" y="2111077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97107" y="2142927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769128" y="2169517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Однокомпонентная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769128" y="2527002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Одна модель выполняет основную функцию, остальное — вспомогательное. Простая архитектура, легко отлаживать.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3360" y="3350320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97107" y="3382169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769128" y="3408759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Составная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769128" y="3766245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Несколько специализированных компонентов: результат одного становится входом другого. Каждый блок решает свою задачу.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4589562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97107" y="4621411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769128" y="4648002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Мультиагентная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769128" y="5005487"/>
            <a:ext cx="5761092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Несколько независимых агентов с собственными ролями обмениваются информацией и согласуют результаты. Это не просто несколько моделей — это несколько взаимодействующих участников процесса.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</Words>
  <Application>Microsoft Office PowerPoint</Application>
  <PresentationFormat>Широкоэкранный</PresentationFormat>
  <Paragraphs>88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Open Sans</vt:lpstr>
      <vt:lpstr>Montserrat Bold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2026-10-25T20:46:41Z</dcterms:created>
  <dcterms:modified xsi:type="dcterms:W3CDTF">2026-10-25T20:49:08Z</dcterms:modified>
</cp:coreProperties>
</file>