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76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887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29582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Этические принципы применения искусственного интеллекта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61475" y="1787087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Техническая возможность не равна допустимости. Системы ИИ должны оцениваться не только по полезности, но и по влиянию на человека и общество.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45420"/>
            <a:ext cx="6296860" cy="744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8978" y="2396728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Алгоритмическая дискриминация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88978" y="2658963"/>
            <a:ext cx="591805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Систематическое создание неравных результатов для определённых групп населения.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82826"/>
            <a:ext cx="6296860" cy="9248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8978" y="3234134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Прозрачность и контроль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88978" y="3496370"/>
            <a:ext cx="591805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Пользователи должны знать, что взаимодействуют с ИИ; человеческий надзор обязателен.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0215"/>
            <a:ext cx="6296860" cy="9248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8978" y="4251523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Недопустимость введения в заблуждение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88978" y="4513759"/>
            <a:ext cx="591805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Запрет на подделку сообщений от реальных лиц и имитацию человеческого общения без раскрытия.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117604"/>
            <a:ext cx="6296860" cy="9248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88978" y="5268913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Кодекс этики ИИ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88978" y="5531148"/>
            <a:ext cx="591805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Ориентир для саморегулирования отрасли — не юридическое обязательство, но важный стандарт.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90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Правовое регулирование ИИ в Российской Федерации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841" y="1768673"/>
            <a:ext cx="2684395" cy="26844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92919" y="2916824"/>
            <a:ext cx="694355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Регулирование строится на специальных нормативных актах и общих положениях законодательства. Специальный закон не освобождает от соблюдения смежных требований.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4692253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01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1475" y="4914106"/>
            <a:ext cx="355204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5023048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Национальная стратегия до 2030 г.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5308203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Указ № 490 (2019 г.), изменения Указом № 124 (2024 г.) — стратегический ориентир развития ИИ.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19777" y="4692253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19777" y="4914106"/>
            <a:ext cx="355204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4319777" y="5023048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Федеральный закон № 243-ФЗ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19777" y="5308203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 1 сентября 2026 г. — регулирует большие фундаментальные модели от 1 млрд параметров.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78079" y="4692253"/>
            <a:ext cx="28346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03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78079" y="4914106"/>
            <a:ext cx="3552042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7978079" y="5023048"/>
            <a:ext cx="35520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Принцип отраслевого соответствия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978079" y="5308203"/>
            <a:ext cx="355204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Правовые требования зависят от конкретных действий, выполняемых с помощью ИИ.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47871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Защита персональных данных при использовании ИИ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681451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Требования Федерального закона № 152-ФЗ распространяются на ИИ-системы, если обрабатываются сведения о физических лицах.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61475" y="2193528"/>
            <a:ext cx="6296860" cy="978098"/>
          </a:xfrm>
          <a:prstGeom prst="roundRect">
            <a:avLst>
              <a:gd name="adj" fmla="val 608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506" y="2341563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Правовое основание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626717"/>
            <a:ext cx="6000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Согласие, исполнение договора или законодательная обязанность — одно из трёх обязательно.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61475" y="3277890"/>
            <a:ext cx="6296860" cy="779661"/>
          </a:xfrm>
          <a:prstGeom prst="roundRect">
            <a:avLst>
              <a:gd name="adj" fmla="val 76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506" y="3425924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Целевое использование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09506" y="3711079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Данные — только для заявленных целей, объём не должен быть избыточным.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475" y="4163814"/>
            <a:ext cx="6296860" cy="978098"/>
          </a:xfrm>
          <a:prstGeom prst="roundRect">
            <a:avLst>
              <a:gd name="adj" fmla="val 608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506" y="4311848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Обезличивание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9506" y="4597003"/>
            <a:ext cx="6000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Удаление фамилии не гарантирует анонимность, если личность можно установить по иным признакам.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1475" y="5248176"/>
            <a:ext cx="6296860" cy="978098"/>
          </a:xfrm>
          <a:prstGeom prst="roundRect">
            <a:avLst>
              <a:gd name="adj" fmla="val 608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506" y="539621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Трансграничная передача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09506" y="5681365"/>
            <a:ext cx="6000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 1 июля 2025 г. — ограничения на зарубежные базы данных; требуется проверка места обработки.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127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Правовые ограничения автоматизированного принятия решений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05901"/>
            <a:ext cx="524993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Статья 16 Федерального закона № 152-ФЗ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запрещает исключительно автоматизированное принятие решений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, влияющих на права человека, без участия человека.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3292277"/>
            <a:ext cx="5249930" cy="728663"/>
          </a:xfrm>
          <a:prstGeom prst="roundRect">
            <a:avLst>
              <a:gd name="adj" fmla="val 8716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3483769"/>
            <a:ext cx="189007" cy="1512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893" y="3441633"/>
            <a:ext cx="460730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Формальное присутствие человека не означает реального контроля, если он лишь подтверждает вывод программы.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61475" y="4156968"/>
            <a:ext cx="524993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Исключения: письменное согласие субъекта или прямое указание в федеральном законе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Оператор обязан разъяснить порядок принятия решения и его последствия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Право на возражение: оператор рассматривает его в течение 30 дней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594" y="1892102"/>
            <a:ext cx="4199924" cy="42000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7346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Правовое регулирование биометрических данных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858003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Биометрические персональные данные — сведения о физиологических и биологических особенностях, позволяющие установить личность человека.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26692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2580" y="2426692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Письменное согласие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762580" y="2735461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Обработка биометрии требует явного письменного согласия субъекта, кроме случаев, прямо предусмотренных законом.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1272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762580" y="3412728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Федеральный закон № 572-ФЗ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762580" y="3721497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Регулирует идентификацию с использованием биометрии и Единую биометрическую систему (2022 г.).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398764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62580" y="4398764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Не каждое фото — биометрия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762580" y="4707533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Статус биометрических данных определяется назначением и способом обработки, а не форматом файла.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5384800"/>
            <a:ext cx="378014" cy="37802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762580" y="5384800"/>
            <a:ext cx="57676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Ограничение обязательности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5762580" y="5693569"/>
            <a:ext cx="576764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Организация не вправе произвольно делать биометрическую идентификацию обязательным условием.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1267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Авторское право и интеллектуальная собственность при использовании ИИ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066175"/>
            <a:ext cx="58013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Ключевой принцип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447512"/>
            <a:ext cx="580137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Автором результата интеллектуальной деятельности признаётся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гражданин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, творческим трудом которого создан результат.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ИИ не может быть автором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в юридическом смысле.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3279477"/>
            <a:ext cx="5801374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Полностью автоматический материал vs. результат с творческим вкладом человека — принципиальное различие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Простой технический запрос не гарантирует авторских прав на полученный материал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Условия пользовательского соглашения не заменяют законные основания авторского права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1475" y="4954885"/>
            <a:ext cx="5801374" cy="1039019"/>
          </a:xfrm>
          <a:prstGeom prst="roundRect">
            <a:avLst>
              <a:gd name="adj" fmla="val 6495"/>
            </a:avLst>
          </a:prstGeom>
          <a:solidFill>
            <a:srgbClr val="D5F6F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5168702"/>
            <a:ext cx="200814" cy="160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3551" y="5121855"/>
            <a:ext cx="511866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Статья 10 Федерального закона № 243-ФЗ (с 1 марта 2027 г.) — специальные условия анализа охраняемых материалов для обучения больших моделей.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733" y="2046387"/>
            <a:ext cx="3974008" cy="3974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9394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Коммерческая тайна и конфиденциальная информация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063238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Использование ИИ затрагивает информацию, имеющую коммерческую ценность. Режим коммерческой тайны требует активных мер по защите.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88233"/>
            <a:ext cx="5366112" cy="16256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4033" y="2824559"/>
            <a:ext cx="240996" cy="2410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156" y="3325813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Не автоматически тайна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1156" y="3658691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Не всякая внутренняя информация является коммерческой тайной — необходимо формальное установление режима.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688233"/>
            <a:ext cx="5366112" cy="16256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6666" y="2824559"/>
            <a:ext cx="240996" cy="24100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43789" y="3325813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Риск внешних сервисов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6343789" y="3658691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Передача данных внешнему ИИ-сервису может нарушить режим конфиденциальности и условия договоров.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50358"/>
            <a:ext cx="5366112" cy="162560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4033" y="4586684"/>
            <a:ext cx="240996" cy="24100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41156" y="5087938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Федеральный закон № 149-ФЗ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841156" y="5420816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Предусматривает правовые, организационные и технические меры защиты информации.</a:t>
            </a:r>
            <a:endParaRPr lang="en-US" sz="1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4450358"/>
            <a:ext cx="5366112" cy="162560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26666" y="4586684"/>
            <a:ext cx="240996" cy="24100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43789" y="5087938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Проверка поставщика</a:t>
            </a:r>
            <a:endParaRPr lang="en-US" sz="1550" dirty="0"/>
          </a:p>
        </p:txBody>
      </p:sp>
      <p:sp>
        <p:nvSpPr>
          <p:cNvPr id="19" name="Text 9"/>
          <p:cNvSpPr/>
          <p:nvPr/>
        </p:nvSpPr>
        <p:spPr>
          <a:xfrm>
            <a:off x="6343789" y="5420816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Организация обязана определять допустимость внешних сервисов и проверять условия обработки информации.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00047"/>
            <a:ext cx="6296860" cy="1329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Юридическая ответственность за последствия использования ИИ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076639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Применение ИИ не создаёт освобождения от юридической ответственности. Ошибка программы не снимает ответственности с организации.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588716"/>
            <a:ext cx="708801" cy="9653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48422" y="2730401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Гражданско-правовая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048422" y="3015555"/>
            <a:ext cx="5481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Возмещение вреда личности или имуществу (ст. 1064 ГК РФ). Договорная ответственность сохраняется.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554115"/>
            <a:ext cx="708801" cy="965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422" y="3695799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Административная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422" y="3980954"/>
            <a:ext cx="5481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Например, нарушение правил обработки персональных данных влечёт административные санкции.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519513"/>
            <a:ext cx="708801" cy="96539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48422" y="4661198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Уголовная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048422" y="4946352"/>
            <a:ext cx="548179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 наличии предусмотренных законом оснований — уголовная ответственность физических лиц.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5233360" y="5604470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5F6F1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041" y="5761831"/>
            <a:ext cx="177200" cy="1416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93922" y="5750511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Важно различать техническую ошибку модели и юридически значимое нарушение — последствия принципиально разные.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392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Правовые требования к контенту, созданному ИИ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860" y="1445419"/>
            <a:ext cx="2851376" cy="2851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0956" y="2656118"/>
            <a:ext cx="693551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Создание реалистичных изображений, видео и голоса затрагивает права граждан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независимо от способа создания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4549874"/>
            <a:ext cx="2622782" cy="16715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0779" y="4568924"/>
            <a:ext cx="241442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Охрана изображения гражданина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50779" y="5113933"/>
            <a:ext cx="2414428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Статья 152.1 ГК РФ — обнародование и использование требует согласия изображённого лица.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363" y="4549874"/>
            <a:ext cx="2622881" cy="16715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05718" y="4568924"/>
            <a:ext cx="241452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Маркировка ИИ-контента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3605718" y="5113933"/>
            <a:ext cx="2414527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Статья 9 Федерального закона № 243-ФЗ (с 1 марта 2027 г.) — возможность размещения предупреждения об использовании ИИ.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2401" y="4549874"/>
            <a:ext cx="2622782" cy="16715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60755" y="4568924"/>
            <a:ext cx="2414428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Обязанность платформ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360755" y="5113933"/>
            <a:ext cx="2414428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Крупные интернет-площадки обязаны обеспечить пользователям возможность размещения такого предупреждения.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7339" y="4549874"/>
            <a:ext cx="2622881" cy="16715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15693" y="4568924"/>
            <a:ext cx="2414527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Реклама и достоверность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9115693" y="5113933"/>
            <a:ext cx="2414527" cy="10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Федеральный закон № 38-ФЗ «О рекламе» — реклама должна быть добросовестной и достоверной вне зависимости от способа создания.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088"/>
            <a:ext cx="10868745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Специальные правовые режимы и отраслевые ограничения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630849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Экспериментальные правовые режимы позволяют проверять новые технологии в условиях специального регулирования — но не означают общего разрешения игнорировать закон.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2569666"/>
            <a:ext cx="2970039" cy="1615976"/>
          </a:xfrm>
          <a:prstGeom prst="roundRect">
            <a:avLst>
              <a:gd name="adj" fmla="val 36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9506" y="2717701"/>
            <a:ext cx="2673978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Федеральный закон № 258-ФЗ (2020 г.)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9506" y="3266877"/>
            <a:ext cx="267397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Об экспериментальных правовых режимах в сфере цифровых инноваций.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37774" y="2569666"/>
            <a:ext cx="2970138" cy="1615976"/>
          </a:xfrm>
          <a:prstGeom prst="roundRect">
            <a:avLst>
              <a:gd name="adj" fmla="val 368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5805" y="2717701"/>
            <a:ext cx="26740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Пределы эксперимента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885805" y="3045420"/>
            <a:ext cx="267407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Режим действует только в установленных границах; специальная процедура рассмотрения вреда при ИИ-эксперименте.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4291905"/>
            <a:ext cx="6046438" cy="1020663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506" y="4439940"/>
            <a:ext cx="57503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ИИ в медицине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9506" y="4767659"/>
            <a:ext cx="575037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Подпадает под законодательство об охране здоровья и регистрации медицинских изделий.</a:t>
            </a:r>
            <a:endParaRPr lang="en-US" sz="1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710" y="2262485"/>
            <a:ext cx="3357181" cy="3357265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61475" y="5858867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D5F6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6016228"/>
            <a:ext cx="177200" cy="1416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22037" y="6004908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Ключевой вывод: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Техническая готовность системы не означает юридическую готовность к эксплуатации.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866</Words>
  <Application>Microsoft Office PowerPoint</Application>
  <PresentationFormat>Широкоэкранный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2026-10-25T20:48:05Z</dcterms:created>
  <dcterms:modified xsi:type="dcterms:W3CDTF">2026-10-25T20:49:40Z</dcterms:modified>
</cp:coreProperties>
</file>